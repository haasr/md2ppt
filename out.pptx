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10844784" cy="1470025"/>
          </a:xfrm>
        </p:spPr>
        <p:txBody>
          <a:bodyPr lIns="0" rIns="10">
            <a:noAutofit/>
          </a:bodyPr>
          <a:lstStyle/>
          <a:p>
            <a:r>
              <a:t>ETSU Computing Department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9445752" cy="1752600"/>
          </a:xfrm>
        </p:spPr>
        <p:txBody>
          <a:bodyPr lIns="0" rIns="10">
            <a:noAutofit/>
          </a:bodyPr>
          <a:lstStyle/>
          <a:p>
            <a:r>
              <a:t>Welcome to Your Future in Technology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11274552" cy="1143000"/>
          </a:xfrm>
        </p:spPr>
        <p:txBody>
          <a:bodyPr lIns="0" rIns="10">
            <a:noAutofit/>
          </a:bodyPr>
          <a:lstStyle/>
          <a:p>
            <a:pPr algn="l"/>
            <a:r>
              <a:t>Why Choose ETSU Computing?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11274552" cy="4525963"/>
          </a:xfrm>
        </p:spPr>
        <p:txBody>
          <a:bodyPr lIns="0" rIns="10" wrap="square">
            <a:noAutofit/>
          </a:bodyPr>
          <a:lstStyle/>
          <a:p>
            <a:pPr/>
            <a:r>
              <a:t>#1 Best College for Computer Information Systems in Tennessee (CollegeFactual.com)</a:t>
            </a:r>
          </a:p>
          <a:p>
            <a:pPr/>
            <a:r>
              <a:t>#2 Best Computer and Information Sciences College in Tennessee (Universities.com, 2021)</a:t>
            </a:r>
          </a:p>
          <a:p>
            <a:pPr/>
            <a:r>
              <a:t>One of only 17 universities in the U.S. with ABET accreditation in 3+ computing areas</a:t>
            </a:r>
          </a:p>
          <a:p>
            <a:pPr/>
            <a:r>
              <a:t>Rich history since 1972, evolving alongside the technology industry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11274552" cy="1143000"/>
          </a:xfrm>
        </p:spPr>
        <p:txBody>
          <a:bodyPr lIns="0" rIns="10">
            <a:noAutofit/>
          </a:bodyPr>
          <a:lstStyle/>
          <a:p>
            <a:pPr algn="l"/>
            <a:r>
              <a:t>Top 10 Reasons to Choose ETSU Computing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11274552" cy="4525963"/>
          </a:xfrm>
        </p:spPr>
        <p:txBody>
          <a:bodyPr lIns="0" rIns="10" wrap="square">
            <a:noAutofit/>
          </a:bodyPr>
          <a:lstStyle/>
          <a:p>
            <a:pPr marL="585216" indent="-585216">
              <a:buNone/>
            </a:pPr>
            <a:r>
              <a:t>1.  Best in Tennessee - #1 computing school in the state</a:t>
            </a:r>
          </a:p>
          <a:p>
            <a:pPr marL="585216" indent="-585216">
              <a:buNone/>
            </a:pPr>
            <a:r>
              <a:t>2.  Increasing Job Demand - Computing is one of the fastest growing job markets</a:t>
            </a:r>
          </a:p>
          <a:p>
            <a:pPr marL="585216" indent="-585216">
              <a:buNone/>
            </a:pPr>
            <a:r>
              <a:t>3.  Affordable - 84% of students receive financial assistance</a:t>
            </a:r>
          </a:p>
          <a:p>
            <a:pPr marL="585216" indent="-585216">
              <a:buNone/>
            </a:pPr>
            <a:r>
              <a:t>4.  Graduate Career Ready - Career coaching, job fairs, mentorships</a:t>
            </a:r>
          </a:p>
          <a:p>
            <a:pPr marL="585216" indent="-585216">
              <a:buNone/>
            </a:pPr>
            <a:r>
              <a:t>5.  Multiple Career Paths - Four distinct concentrations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11274552" cy="1143000"/>
          </a:xfrm>
        </p:spPr>
        <p:txBody>
          <a:bodyPr lIns="0" rIns="10">
            <a:noAutofit/>
          </a:bodyPr>
          <a:lstStyle/>
          <a:p>
            <a:pPr algn="l"/>
            <a:r>
              <a:t>Top 10 Reasons to Choose ETSU Computing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11274552" cy="4525963"/>
          </a:xfrm>
        </p:spPr>
        <p:txBody>
          <a:bodyPr lIns="0" rIns="10" wrap="square">
            <a:noAutofit/>
          </a:bodyPr>
          <a:lstStyle/>
          <a:p>
            <a:pPr marL="585216" indent="-585216">
              <a:buNone/>
            </a:pPr>
            <a:r>
              <a:t>6.  Small Class Sizes - More individualized attention from professors</a:t>
            </a:r>
          </a:p>
          <a:p>
            <a:pPr marL="585216" indent="-585216">
              <a:buNone/>
            </a:pPr>
            <a:r>
              <a:t>7.  Hands-on Learning - Interactive labs, coding teams, computing clubs</a:t>
            </a:r>
          </a:p>
          <a:p>
            <a:pPr marL="585216" indent="-585216">
              <a:buNone/>
            </a:pPr>
            <a:r>
              <a:t>8.  First-Timer Friendly - Specialized support for first-time college students</a:t>
            </a:r>
          </a:p>
          <a:p>
            <a:pPr marL="585216" indent="-585216">
              <a:buNone/>
            </a:pPr>
            <a:r>
              <a:t>9.  Flexible Class Schedule - Evening and online classes available</a:t>
            </a:r>
          </a:p>
          <a:p>
            <a:pPr marL="585216" indent="-585216">
              <a:buNone/>
            </a:pPr>
            <a:r>
              <a:t>10.  Built for Beginners - No prior coding experience necessary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11274552" cy="1143000"/>
          </a:xfrm>
        </p:spPr>
        <p:txBody>
          <a:bodyPr lIns="0" rIns="10">
            <a:noAutofit/>
          </a:bodyPr>
          <a:lstStyle/>
          <a:p>
            <a:pPr algn="l"/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11274552" cy="4525963"/>
          </a:xfrm>
        </p:spPr>
        <p:txBody>
          <a:bodyPr lIns="0" rIns="10" wrap="square">
            <a:noAutofit/>
          </a:bodyPr>
          <a:lstStyle/>
          <a:p>
            <a:pPr marL="0" indent="0">
              <a:buNone/>
            </a:pPr>
            <a:r>
              <a:t>Thank you for your attention! Let us know if you have any questions.</a:t>
            </a:r>
          </a:p>
          <a:p>
            <a:pPr marL="0" indent="0">
              <a:buNone/>
            </a:pPr>
            <a:r>
              <a:t>Contact Info: Call Brian Bennett directly. He's not very busy.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0053E"/>
      </a:dk2>
      <a:lt2>
        <a:srgbClr val="FFC72C"/>
      </a:lt2>
      <a:accent1>
        <a:srgbClr val="003865"/>
      </a:accent1>
      <a:accent2>
        <a:srgbClr val="005A9E"/>
      </a:accent2>
      <a:accent3>
        <a:srgbClr val="7A6000"/>
      </a:accent3>
      <a:accent4>
        <a:srgbClr val="00053E"/>
      </a:accent4>
      <a:accent5>
        <a:srgbClr val="1A5276"/>
      </a:accent5>
      <a:accent6>
        <a:srgbClr val="4A4A4A"/>
      </a:accent6>
      <a:hlink>
        <a:srgbClr val="003865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